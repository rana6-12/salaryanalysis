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63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3401" y="1471919"/>
            <a:ext cx="597719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4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REPORT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1583401" y="2052824"/>
            <a:ext cx="59771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950" b="1" spc="-3" kern="0" dirty="0">
                <a:solidFill>
                  <a:srgbClr val="A5B4FC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Salary Data Analysis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2428875" y="2910074"/>
            <a:ext cx="428625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workforce compensation patterns through large-scale data processing and advanced visualization frameworks.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335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Technical Framework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14350" y="1363452"/>
            <a:ext cx="2590781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4350" y="1363452"/>
            <a:ext cx="2576466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577764"/>
            <a:ext cx="224788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01 // INITIALIZATION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5800" y="1790291"/>
            <a:ext cx="2247881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120689"/>
            <a:ext cx="224788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of a robust </a:t>
            </a:r>
            <a:r>
              <a:rPr lang="en-US" sz="8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SparkSession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configured for high-concurrency salary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 and schema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76581" y="1363452"/>
            <a:ext cx="2590809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76581" y="1363452"/>
            <a:ext cx="2576522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3448031" y="1577764"/>
            <a:ext cx="224790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02 // PIPELINE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48031" y="1790291"/>
            <a:ext cx="2247909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48031" y="2120689"/>
            <a:ext cx="2247909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ingestion pipeline utilizing </a:t>
            </a:r>
            <a:r>
              <a:rPr lang="en-US" sz="8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inferSchema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preserve data fidelity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diverse numerical and categorical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38841" y="1363452"/>
            <a:ext cx="2590781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8841" y="1363452"/>
            <a:ext cx="2576466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6210291" y="1577764"/>
            <a:ext cx="224788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03 // VALIDATION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210291" y="1790291"/>
            <a:ext cx="2247881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Integrity Check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0291" y="2120689"/>
            <a:ext cx="2247881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structural validation using </a:t>
            </a:r>
            <a:r>
              <a:rPr lang="en-US" sz="8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printSchema()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ensure consistency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analytical operations.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084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 Integrity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35844"/>
            <a:ext cx="8001000" cy="150049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035844"/>
            <a:ext cx="1353378" cy="39826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19820"/>
            <a:ext cx="1353378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035844"/>
            <a:ext cx="1353378" cy="39826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PROTOCOL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24878" y="1035844"/>
            <a:ext cx="4082681" cy="39826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924878" y="1419820"/>
            <a:ext cx="4082681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924878" y="1035844"/>
            <a:ext cx="4082681" cy="39826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07559" y="1035844"/>
            <a:ext cx="2564941" cy="39826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07559" y="1419820"/>
            <a:ext cx="2564941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6007559" y="1035844"/>
            <a:ext cx="2564941" cy="39826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OUTCOME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1426964"/>
            <a:ext cx="1353378" cy="35967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Removal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39178" y="1535906"/>
            <a:ext cx="18841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Eliminating incomplete records via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23342" y="1525191"/>
            <a:ext cx="548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dropna()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07559" y="1426964"/>
            <a:ext cx="2564941" cy="35967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statistical consistency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1500" y="1786635"/>
            <a:ext cx="8001000" cy="363243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1786635"/>
            <a:ext cx="1353378" cy="36324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039178" y="1899149"/>
            <a:ext cx="17698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Removing redundant rows using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809042" y="1888434"/>
            <a:ext cx="1097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dropDuplicates()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007559" y="1786635"/>
            <a:ext cx="2564941" cy="36324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artificial bias in results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1500" y="2149878"/>
            <a:ext cx="1353378" cy="36145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924878" y="2149878"/>
            <a:ext cx="4082681" cy="36145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null-count checks across columns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07559" y="2149878"/>
            <a:ext cx="2564941" cy="36145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 dataset integrity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Workforce Metrics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78744"/>
            <a:ext cx="2524116" cy="25860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664494"/>
            <a:ext cx="20954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94A3B8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375+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85813" y="2355652"/>
            <a:ext cx="209549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3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5813" y="2846784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vast dataset representing a global population of professionals across multiple sectors.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09928" y="1378744"/>
            <a:ext cx="2524116" cy="25860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4241" y="1664494"/>
            <a:ext cx="20954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94A3B8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Diverse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3524241" y="2355652"/>
            <a:ext cx="209549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3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ROLE SPECTRUM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24241" y="2846784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unique job titles reflecting the complexity of the modern workforce.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48356" y="1378744"/>
            <a:ext cx="2524144" cy="25860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2669" y="1664494"/>
            <a:ext cx="209551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94A3B8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High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6262669" y="2355652"/>
            <a:ext cx="209551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3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EXPERIENCE MATURITY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62669" y="2846784"/>
            <a:ext cx="209551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professional maturity serving as a critical variable in compensation modeling.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Compensation Benchmarks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171575"/>
            <a:ext cx="25003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AVERAGE SALARY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355527"/>
            <a:ext cx="2500313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$115,326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1500" y="2057400"/>
            <a:ext cx="25003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MAXIMUM SALARY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71500" y="2241352"/>
            <a:ext cx="2500313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$250,000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1500" y="2943225"/>
            <a:ext cx="25003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MINIMUM SALARY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1500" y="3127177"/>
            <a:ext cx="2500313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$350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00438" y="1021556"/>
            <a:ext cx="5072063" cy="412194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307306"/>
            <a:ext cx="46291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Academic Impact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307306"/>
            <a:ext cx="931534" cy="378619"/>
          </a:xfrm>
          <a:prstGeom prst="rect">
            <a:avLst/>
          </a:prstGeom>
          <a:noFill/>
          <a:ln/>
        </p:spPr>
        <p:txBody>
          <a:bodyPr wrap="none" lIns="8509" tIns="8509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EDUCATION LEVEL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503034" y="1307306"/>
            <a:ext cx="2561760" cy="378619"/>
          </a:xfrm>
          <a:prstGeom prst="rect">
            <a:avLst/>
          </a:prstGeom>
          <a:noFill/>
          <a:ln/>
        </p:spPr>
        <p:txBody>
          <a:bodyPr wrap="square" lIns="8509" tIns="8509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STRATEGIC INSIGHT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1500" y="1685925"/>
            <a:ext cx="931534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Bachelor's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503034" y="1685925"/>
            <a:ext cx="2561760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as the foundational entry-point for professional career growth.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300288"/>
            <a:ext cx="931534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Master's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503034" y="2300288"/>
            <a:ext cx="2561760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significant salary premium and access to specialized roles.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914650"/>
            <a:ext cx="931534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PhD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503034" y="2914650"/>
            <a:ext cx="2561760" cy="61436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 the highest earning tier, reflecting deep domain expertise.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86313" y="1164431"/>
            <a:ext cx="3786188" cy="26431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307306"/>
            <a:ext cx="3500438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Experience Analysis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5869"/>
            <a:ext cx="4543425" cy="30861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50181"/>
            <a:ext cx="4243388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3550" y="1385888"/>
            <a:ext cx="30289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0.93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5543550" y="1785938"/>
            <a:ext cx="3028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COEFFICIENT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543550" y="1993106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positive correlation between years of professional experience and salary growth.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543550" y="2851752"/>
            <a:ext cx="30289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Consistent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5543550" y="3251802"/>
            <a:ext cx="3028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TRAJECTORY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543550" y="3458970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Accumulation of skills and industry knowledge translates into predictable compensation increases.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Equity Assessment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5869"/>
            <a:ext cx="3786188" cy="31575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59809" y="1521619"/>
            <a:ext cx="2009542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WORKFORCE COMPOSITION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827014"/>
            <a:ext cx="2143125" cy="2143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6338" y="1293019"/>
            <a:ext cx="358616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AVERAGE SALARY COMPARISON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986338" y="1505545"/>
            <a:ext cx="358616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Data-Driven Parity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86338" y="1907381"/>
            <a:ext cx="35861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the distribution of salaries across genders to identify patterns of equity or disparity within the global workforce.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86338" y="2730308"/>
            <a:ext cx="358616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EQUITY OBSERVATIONS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986338" y="2942834"/>
            <a:ext cx="358616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Transparent Insights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6338" y="3344670"/>
            <a:ext cx="35861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average salary metrics with composition data to provide a clear view of current compensation structures.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084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Career Lifecycle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5869"/>
            <a:ext cx="4543425" cy="30861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50181"/>
            <a:ext cx="4243388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3550" y="1385888"/>
            <a:ext cx="30289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LIFE CYCLE EARNINGS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543550" y="1626989"/>
            <a:ext cx="30289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compensation evolution from </a:t>
            </a: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early-career </a:t>
            </a: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in the 20s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senior leadership positions in the 50s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beyond.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543550" y="2668498"/>
            <a:ext cx="30289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PEAK EARNING YEARS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543550" y="2909599"/>
            <a:ext cx="30289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the age groups that command the </a:t>
            </a: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</a:t>
            </a: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value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observing shifts in professional 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543550" y="3951108"/>
            <a:ext cx="30289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STRATEGIC GUIDANCE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543550" y="4192209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lifecycle perspective offers valuable guidance for </a:t>
            </a:r>
            <a:r>
              <a:rPr lang="en-US" sz="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career planning</a:t>
            </a: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economic stability.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Market Value Roles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5869"/>
            <a:ext cx="8001000" cy="2101267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235869"/>
            <a:ext cx="1057275" cy="419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41277"/>
            <a:ext cx="1057275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235869"/>
            <a:ext cx="1057275" cy="419695"/>
          </a:xfrm>
          <a:prstGeom prst="rect">
            <a:avLst/>
          </a:prstGeom>
          <a:noFill/>
          <a:ln/>
        </p:spPr>
        <p:txBody>
          <a:bodyPr wrap="none" lIns="204089" tIns="170053" rIns="20408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18C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RANK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628775" y="1235869"/>
            <a:ext cx="3152542" cy="419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628775" y="1641277"/>
            <a:ext cx="3152542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628775" y="1235869"/>
            <a:ext cx="3152542" cy="419695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18C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JOB TITLE CATEGORY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781317" y="1235869"/>
            <a:ext cx="2035383" cy="419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81317" y="1641277"/>
            <a:ext cx="2035383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4781317" y="1235869"/>
            <a:ext cx="2035383" cy="419695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18C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EARNING POTENTIAL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816700" y="1235869"/>
            <a:ext cx="1755800" cy="419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816700" y="1641277"/>
            <a:ext cx="17558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6816700" y="1235869"/>
            <a:ext cx="1755800" cy="419695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18C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MARKET DEMAND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71500" y="1648420"/>
            <a:ext cx="1057275" cy="55219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01 - 03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28775" y="1648420"/>
            <a:ext cx="3152542" cy="55219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Executive Leadership &amp; Specialized Tech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81317" y="1648420"/>
            <a:ext cx="2035383" cy="55219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816700" y="1648420"/>
            <a:ext cx="1755800" cy="55219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71500" y="2200610"/>
            <a:ext cx="8001000" cy="555761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2200610"/>
            <a:ext cx="1057275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04 - 07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628775" y="2200610"/>
            <a:ext cx="3152542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Senior Management &amp; Engineering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81317" y="2200610"/>
            <a:ext cx="2035383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16700" y="2200610"/>
            <a:ext cx="1755800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" y="2756371"/>
            <a:ext cx="1057275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08 - 10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628775" y="2756371"/>
            <a:ext cx="3152542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 Science &amp; Technical Lead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81317" y="2756371"/>
            <a:ext cx="2035383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Average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16700" y="2756371"/>
            <a:ext cx="1755800" cy="55576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Strategic Insights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5869"/>
            <a:ext cx="2514600" cy="30146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521619"/>
            <a:ext cx="2085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85813" y="1900238"/>
            <a:ext cx="20859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Experience is the Primary Driver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454548"/>
            <a:ext cx="2085975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analysis confirms that professional tenure remains the single most influential factor in determining salary levels, with a 0.93 correlation coefficient.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4700" y="1235869"/>
            <a:ext cx="2514600" cy="30146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9013" y="1521619"/>
            <a:ext cx="2085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29013" y="1900238"/>
            <a:ext cx="20859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Education as a Catalyst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9013" y="2248830"/>
            <a:ext cx="2085975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achievement serves as a significant catalyst for higher earning trajectories, with PhD holders commanding the highest market premiums.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57900" y="1235869"/>
            <a:ext cx="2514600" cy="30146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213" y="1521619"/>
            <a:ext cx="2085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72213" y="1900238"/>
            <a:ext cx="20859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Scalable Data Intelligence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72213" y="2248830"/>
            <a:ext cx="2085975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PySpark allows for the transformation of raw workforce data into actionable insights that inform both individual career choices and corporate strategies.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18C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Future Roadmap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78744"/>
            <a:ext cx="2514600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664494"/>
            <a:ext cx="2085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PHASE 01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785813" y="1885950"/>
            <a:ext cx="2085975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244923"/>
            <a:ext cx="208597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Spark MLlib to develop predictive algorithms for salary forecasting based on multi-dimensional professional inputs.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1378744"/>
            <a:ext cx="2500313" cy="2857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Shape 6"/>
          <p:cNvSpPr/>
          <p:nvPr/>
        </p:nvSpPr>
        <p:spPr>
          <a:xfrm>
            <a:off x="3314700" y="1378744"/>
            <a:ext cx="2514600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9013" y="1664494"/>
            <a:ext cx="2085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PHASE 02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529013" y="1885950"/>
            <a:ext cx="2085975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Expanded Datasets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9013" y="2244923"/>
            <a:ext cx="208597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Incorporating regional economic indicators and cost-of-living indices to provide a more nuanced global compensation perspective.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14700" y="1378744"/>
            <a:ext cx="2500313" cy="2857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Shape 11"/>
          <p:cNvSpPr/>
          <p:nvPr/>
        </p:nvSpPr>
        <p:spPr>
          <a:xfrm>
            <a:off x="6057900" y="1378744"/>
            <a:ext cx="2514600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213" y="1664494"/>
            <a:ext cx="2085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38BDF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PHASE 03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72213" y="1885950"/>
            <a:ext cx="2085975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72213" y="2244923"/>
            <a:ext cx="2085975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automated data pipelines for real-time tracking of workforce trends and shifting market dynamics.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57900" y="1378744"/>
            <a:ext cx="2500313" cy="2857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6"/>
          <p:cNvSpPr/>
          <p:nvPr/>
        </p:nvSpPr>
        <p:spPr>
          <a:xfrm>
            <a:off x="0" y="4588073"/>
            <a:ext cx="91440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475569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END OF REPORT // STRATEGIC WORKFORCE ANALYTICS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2026-05-08T21:40:11Z</dcterms:created>
  <dcterms:modified xsi:type="dcterms:W3CDTF">2026-05-08T21:40:11Z</dcterms:modified>
</cp:coreProperties>
</file>